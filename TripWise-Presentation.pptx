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02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1-expl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0"/>
            <a:ext cx="5980176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217920" y="0"/>
            <a:ext cx="109728" cy="6858000"/>
          </a:xfrm>
          <a:prstGeom prst="rect">
            <a:avLst/>
          </a:prstGeom>
          <a:solidFill>
            <a:srgbClr val="BB8750"/>
          </a:solidFill>
          <a:ln>
            <a:solidFill>
              <a:srgbClr val="BB8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44805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E2C28F"/>
                </a:solidFill>
                <a:latin typeface="Aptos"/>
              </a:rPr>
              <a:t>FULL-STACK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554480"/>
            <a:ext cx="5120640" cy="1234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5400" b="1" i="0">
                <a:solidFill>
                  <a:srgbClr val="FFFFFB"/>
                </a:solidFill>
                <a:latin typeface="Aptos Display"/>
              </a:rPr>
              <a:t>TripWise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816352"/>
            <a:ext cx="4754880" cy="10515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E1E8DC"/>
                </a:solidFill>
                <a:latin typeface="Aptos Display"/>
              </a:rPr>
              <a:t>Discover places.
Build a trip worth taking.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270248"/>
            <a:ext cx="685800" cy="50292"/>
          </a:xfrm>
          <a:prstGeom prst="rect">
            <a:avLst/>
          </a:prstGeom>
          <a:solidFill>
            <a:srgbClr val="BB8750"/>
          </a:solidFill>
          <a:ln>
            <a:solidFill>
              <a:srgbClr val="BB8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4572000"/>
            <a:ext cx="466344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FFFFB"/>
                </a:solidFill>
                <a:latin typeface="Aptos"/>
              </a:rPr>
              <a:t>React  ·  Express  ·  PostgreSQL  ·  Geoapify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5989320"/>
            <a:ext cx="4114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C3CFC3"/>
                </a:solidFill>
                <a:latin typeface="Aptos"/>
              </a:rPr>
              <a:t>Single-service deployment plan for Render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9669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BB8750"/>
                </a:solidFill>
                <a:latin typeface="Aptos"/>
              </a:rPr>
              <a:t>THE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900" b="1" i="0">
                <a:solidFill>
                  <a:srgbClr val="1B3025"/>
                </a:solidFill>
                <a:latin typeface="Aptos Display"/>
              </a:rPr>
              <a:t>One place to go from discovery to itinerary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389888"/>
            <a:ext cx="104241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69776C"/>
                </a:solidFill>
                <a:latin typeface="Aptos"/>
              </a:rPr>
              <a:t>TripWise combines real place search with a persistent, shared travel shortlist.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9776C"/>
                </a:solidFill>
                <a:latin typeface="Aptos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" y="6345936"/>
            <a:ext cx="438912" cy="32004"/>
          </a:xfrm>
          <a:prstGeom prst="rect">
            <a:avLst/>
          </a:prstGeom>
          <a:solidFill>
            <a:srgbClr val="BB8750"/>
          </a:solidFill>
          <a:ln>
            <a:solidFill>
              <a:srgbClr val="BB8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7008" y="6254496"/>
            <a:ext cx="43891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1" i="0">
                <a:solidFill>
                  <a:srgbClr val="69776C"/>
                </a:solidFill>
                <a:latin typeface="Aptos"/>
              </a:rPr>
              <a:t>TRIPWISE  /  SMART TRAVEL PLANNER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148840"/>
            <a:ext cx="3337560" cy="2011680"/>
          </a:xfrm>
          <a:prstGeom prst="roundRect">
            <a:avLst>
              <a:gd name="adj" fmla="val 8000"/>
            </a:avLst>
          </a:prstGeom>
          <a:solidFill>
            <a:srgbClr val="FFFFFB"/>
          </a:solidFill>
          <a:ln>
            <a:solidFill>
              <a:srgbClr val="DA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395728"/>
            <a:ext cx="5486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BB8750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816352"/>
            <a:ext cx="28346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1B3025"/>
                </a:solidFill>
                <a:latin typeface="Aptos"/>
              </a:rPr>
              <a:t>Search real places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310128"/>
            <a:ext cx="2816352" cy="6766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69776C"/>
                </a:solidFill>
                <a:latin typeface="Aptos"/>
              </a:rPr>
              <a:t>Geocode a city and retrieve nearby destinations from Geoapify.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2148840"/>
            <a:ext cx="3337560" cy="2011680"/>
          </a:xfrm>
          <a:prstGeom prst="roundRect">
            <a:avLst>
              <a:gd name="adj" fmla="val 8000"/>
            </a:avLst>
          </a:prstGeom>
          <a:solidFill>
            <a:srgbClr val="FFFFFB"/>
          </a:solidFill>
          <a:ln>
            <a:solidFill>
              <a:srgbClr val="DA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8" y="2395728"/>
            <a:ext cx="5486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BB8750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2816352"/>
            <a:ext cx="28346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1B3025"/>
                </a:solidFill>
                <a:latin typeface="Aptos"/>
              </a:rPr>
              <a:t>Refine the results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3310128"/>
            <a:ext cx="2816352" cy="6766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69776C"/>
                </a:solidFill>
                <a:latin typeface="Aptos"/>
              </a:rPr>
              <a:t>Choose a category, sort by name, or narrow the list with text search.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3" y="2148840"/>
            <a:ext cx="3337560" cy="2011680"/>
          </a:xfrm>
          <a:prstGeom prst="roundRect">
            <a:avLst>
              <a:gd name="adj" fmla="val 8000"/>
            </a:avLst>
          </a:prstGeom>
          <a:solidFill>
            <a:srgbClr val="FFFFFB"/>
          </a:solidFill>
          <a:ln>
            <a:solidFill>
              <a:srgbClr val="DA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0183" y="2395728"/>
            <a:ext cx="5486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BB8750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183" y="2816352"/>
            <a:ext cx="28346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1B3025"/>
                </a:solidFill>
                <a:latin typeface="Aptos"/>
              </a:rPr>
              <a:t>Keep the good ones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0183" y="3310128"/>
            <a:ext cx="2816352" cy="6766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69776C"/>
                </a:solidFill>
                <a:latin typeface="Aptos"/>
              </a:rPr>
              <a:t>Open a destination, save it to My Trip, and remove it when plans change.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690872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285B43"/>
                </a:solidFill>
                <a:latin typeface="Aptos Display"/>
              </a:rPr>
              <a:t>Designed for a fast demo: search → inspect → save → revisit.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5376672"/>
            <a:ext cx="1024128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69776C"/>
                </a:solidFill>
                <a:latin typeface="Aptos"/>
              </a:rPr>
              <a:t>The deployed MVP has no accounts; the itinerary is shared by all visitors to the same service.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9669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BB8750"/>
                </a:solidFill>
                <a:latin typeface="Aptos"/>
              </a:rPr>
              <a:t>EXPLORE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900" b="1" i="0">
                <a:solidFill>
                  <a:srgbClr val="1B3025"/>
                </a:solidFill>
                <a:latin typeface="Aptos Display"/>
              </a:rPr>
              <a:t>Live destinations, useful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389888"/>
            <a:ext cx="104241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69776C"/>
                </a:solidFill>
                <a:latin typeface="Aptos"/>
              </a:rPr>
              <a:t>Search results come from Geoapify; category and sort state remain in sync.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9776C"/>
                </a:solidFill>
                <a:latin typeface="Aptos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" y="6345936"/>
            <a:ext cx="438912" cy="32004"/>
          </a:xfrm>
          <a:prstGeom prst="rect">
            <a:avLst/>
          </a:prstGeom>
          <a:solidFill>
            <a:srgbClr val="BB8750"/>
          </a:solidFill>
          <a:ln>
            <a:solidFill>
              <a:srgbClr val="BB8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7008" y="6254496"/>
            <a:ext cx="43891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1" i="0">
                <a:solidFill>
                  <a:srgbClr val="69776C"/>
                </a:solidFill>
                <a:latin typeface="Aptos"/>
              </a:rPr>
              <a:t>TRIPWISE  /  SMART TRAVEL PLANNER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847088"/>
            <a:ext cx="6995160" cy="3913632"/>
          </a:xfrm>
          <a:prstGeom prst="roundRect">
            <a:avLst>
              <a:gd name="adj" fmla="val 8000"/>
            </a:avLst>
          </a:prstGeom>
          <a:solidFill>
            <a:srgbClr val="FFFFFB"/>
          </a:solidFill>
          <a:ln>
            <a:solidFill>
              <a:srgbClr val="DA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1-expl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1920240"/>
            <a:ext cx="6848856" cy="37673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3232" y="5843016"/>
            <a:ext cx="699516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69776C"/>
                </a:solidFill>
                <a:latin typeface="Aptos"/>
              </a:rPr>
              <a:t>EXPLORE: DESTINATION SEARCH AND RESULTS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103120"/>
            <a:ext cx="73152" cy="530352"/>
          </a:xfrm>
          <a:prstGeom prst="roundRect">
            <a:avLst>
              <a:gd name="adj" fmla="val 8000"/>
            </a:avLst>
          </a:prstGeom>
          <a:solidFill>
            <a:srgbClr val="285B43"/>
          </a:solidFill>
          <a:ln>
            <a:solidFill>
              <a:srgbClr val="285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39328" y="2057400"/>
            <a:ext cx="3044951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B3025"/>
                </a:solidFill>
                <a:latin typeface="Aptos"/>
              </a:rPr>
              <a:t>City 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8" y="2340864"/>
            <a:ext cx="3044951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69776C"/>
                </a:solidFill>
                <a:latin typeface="Aptos"/>
              </a:rPr>
              <a:t>Resolve a place name, then fetch nearby destinations.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3118103"/>
            <a:ext cx="73152" cy="530352"/>
          </a:xfrm>
          <a:prstGeom prst="roundRect">
            <a:avLst>
              <a:gd name="adj" fmla="val 8000"/>
            </a:avLst>
          </a:prstGeom>
          <a:solidFill>
            <a:srgbClr val="BB8750"/>
          </a:solidFill>
          <a:ln>
            <a:solidFill>
              <a:srgbClr val="BB8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3072384"/>
            <a:ext cx="3044951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B3025"/>
                </a:solidFill>
                <a:latin typeface="Aptos"/>
              </a:rPr>
              <a:t>Category filters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3355848"/>
            <a:ext cx="3044951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69776C"/>
                </a:solidFill>
                <a:latin typeface="Aptos"/>
              </a:rPr>
              <a:t>Attractions, sights, restaurants, entertainment, and hotels.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4133087"/>
            <a:ext cx="73152" cy="530352"/>
          </a:xfrm>
          <a:prstGeom prst="roundRect">
            <a:avLst>
              <a:gd name="adj" fmla="val 8000"/>
            </a:avLst>
          </a:prstGeom>
          <a:solidFill>
            <a:srgbClr val="285B43"/>
          </a:solidFill>
          <a:ln>
            <a:solidFill>
              <a:srgbClr val="285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8" y="4087368"/>
            <a:ext cx="3044951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B3025"/>
                </a:solidFill>
                <a:latin typeface="Aptos"/>
              </a:rPr>
              <a:t>Find and sort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4370831"/>
            <a:ext cx="3044951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69776C"/>
                </a:solidFill>
                <a:latin typeface="Aptos"/>
              </a:rPr>
              <a:t>Filter the visible list and sort names ascending or descending.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9669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BB8750"/>
                </a:solidFill>
                <a:latin typeface="Aptos"/>
              </a:rPr>
              <a:t>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900" b="1" i="0">
                <a:solidFill>
                  <a:srgbClr val="1B3025"/>
                </a:solidFill>
                <a:latin typeface="Aptos Display"/>
              </a:rPr>
              <a:t>A small, complete planning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389888"/>
            <a:ext cx="104241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69776C"/>
                </a:solidFill>
                <a:latin typeface="Aptos"/>
              </a:rPr>
              <a:t>Destination details lead directly into a database-backed itinerary.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9776C"/>
                </a:solidFill>
                <a:latin typeface="Aptos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" y="6345936"/>
            <a:ext cx="438912" cy="32004"/>
          </a:xfrm>
          <a:prstGeom prst="rect">
            <a:avLst/>
          </a:prstGeom>
          <a:solidFill>
            <a:srgbClr val="BB8750"/>
          </a:solidFill>
          <a:ln>
            <a:solidFill>
              <a:srgbClr val="BB8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7008" y="6254496"/>
            <a:ext cx="43891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1" i="0">
                <a:solidFill>
                  <a:srgbClr val="69776C"/>
                </a:solidFill>
                <a:latin typeface="Aptos"/>
              </a:rPr>
              <a:t>TRIPWISE  /  SMART TRAVEL PLANNER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847088"/>
            <a:ext cx="5212080" cy="3474720"/>
          </a:xfrm>
          <a:prstGeom prst="roundRect">
            <a:avLst>
              <a:gd name="adj" fmla="val 8000"/>
            </a:avLst>
          </a:prstGeom>
          <a:solidFill>
            <a:srgbClr val="FFFFFB"/>
          </a:solidFill>
          <a:ln>
            <a:solidFill>
              <a:srgbClr val="DA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2-destination-det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1920240"/>
            <a:ext cx="5065776" cy="332841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3232" y="5404104"/>
            <a:ext cx="52120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69776C"/>
                </a:solidFill>
                <a:latin typeface="Aptos"/>
              </a:rPr>
              <a:t>DESTINATION DETAILS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2784" y="1847088"/>
            <a:ext cx="5212080" cy="3474720"/>
          </a:xfrm>
          <a:prstGeom prst="roundRect">
            <a:avLst>
              <a:gd name="adj" fmla="val 8000"/>
            </a:avLst>
          </a:prstGeom>
          <a:solidFill>
            <a:srgbClr val="FFFFFB"/>
          </a:solidFill>
          <a:ln>
            <a:solidFill>
              <a:srgbClr val="DA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4-my-trip-sav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1920240"/>
            <a:ext cx="5065776" cy="332841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72784" y="5404104"/>
            <a:ext cx="52120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69776C"/>
                </a:solidFill>
                <a:latin typeface="Aptos"/>
              </a:rPr>
              <a:t>MY TRIP: SAVED DESTINATION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5632704"/>
            <a:ext cx="103327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69776C"/>
                </a:solidFill>
                <a:latin typeface="Aptos"/>
              </a:rPr>
              <a:t>Remove confirmation protects against accidental deletes; a reload confirms persistence.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9669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BB8750"/>
                </a:solidFill>
                <a:latin typeface="Aptos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900" b="1" i="0">
                <a:solidFill>
                  <a:srgbClr val="1B3025"/>
                </a:solidFill>
                <a:latin typeface="Aptos Display"/>
              </a:rPr>
              <a:t>One Node service, one origin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389888"/>
            <a:ext cx="104241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69776C"/>
                </a:solidFill>
                <a:latin typeface="Aptos"/>
              </a:rPr>
              <a:t>The Express server serves both the JSON API and Vite's production build.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9776C"/>
                </a:solidFill>
                <a:latin typeface="Aptos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" y="6345936"/>
            <a:ext cx="438912" cy="32004"/>
          </a:xfrm>
          <a:prstGeom prst="rect">
            <a:avLst/>
          </a:prstGeom>
          <a:solidFill>
            <a:srgbClr val="BB8750"/>
          </a:solidFill>
          <a:ln>
            <a:solidFill>
              <a:srgbClr val="BB8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7008" y="6254496"/>
            <a:ext cx="43891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1" i="0">
                <a:solidFill>
                  <a:srgbClr val="69776C"/>
                </a:solidFill>
                <a:latin typeface="Aptos"/>
              </a:rPr>
              <a:t>TRIPWISE  /  SMART TRAVEL PLANNER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2377440"/>
            <a:ext cx="2286000" cy="1234440"/>
          </a:xfrm>
          <a:prstGeom prst="roundRect">
            <a:avLst>
              <a:gd name="adj" fmla="val 8000"/>
            </a:avLst>
          </a:prstGeom>
          <a:solidFill>
            <a:srgbClr val="FFFFFB"/>
          </a:solidFill>
          <a:ln>
            <a:solidFill>
              <a:srgbClr val="DA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560320"/>
            <a:ext cx="1975104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285B43"/>
                </a:solidFill>
                <a:latin typeface="Aptos"/>
              </a:rPr>
              <a:t>React + Vite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999232"/>
            <a:ext cx="199339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69776C"/>
                </a:solidFill>
                <a:latin typeface="Aptos"/>
              </a:rPr>
              <a:t>UI and same-origin fetch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67328" y="2377440"/>
            <a:ext cx="2286000" cy="1234440"/>
          </a:xfrm>
          <a:prstGeom prst="roundRect">
            <a:avLst>
              <a:gd name="adj" fmla="val 8000"/>
            </a:avLst>
          </a:prstGeom>
          <a:solidFill>
            <a:srgbClr val="FFFFFB"/>
          </a:solidFill>
          <a:ln>
            <a:solidFill>
              <a:srgbClr val="DA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22776" y="2560320"/>
            <a:ext cx="1975104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285B43"/>
                </a:solidFill>
                <a:latin typeface="Aptos"/>
              </a:rPr>
              <a:t>Express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13632" y="2999232"/>
            <a:ext cx="199339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69776C"/>
                </a:solidFill>
                <a:latin typeface="Aptos"/>
              </a:rPr>
              <a:t>API, static assets, health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48272" y="2377440"/>
            <a:ext cx="1920240" cy="1234440"/>
          </a:xfrm>
          <a:prstGeom prst="roundRect">
            <a:avLst>
              <a:gd name="adj" fmla="val 8000"/>
            </a:avLst>
          </a:prstGeom>
          <a:solidFill>
            <a:srgbClr val="FFFFFB"/>
          </a:solidFill>
          <a:ln>
            <a:solidFill>
              <a:srgbClr val="DA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03720" y="2560320"/>
            <a:ext cx="1609344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285B43"/>
                </a:solidFill>
                <a:latin typeface="Aptos"/>
              </a:rPr>
              <a:t>Geoapify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2999232"/>
            <a:ext cx="162763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69776C"/>
                </a:solidFill>
                <a:latin typeface="Aptos"/>
              </a:rPr>
              <a:t>Geocode + nearby places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45168" y="2377440"/>
            <a:ext cx="2057400" cy="1234440"/>
          </a:xfrm>
          <a:prstGeom prst="roundRect">
            <a:avLst>
              <a:gd name="adj" fmla="val 8000"/>
            </a:avLst>
          </a:prstGeom>
          <a:solidFill>
            <a:srgbClr val="FFFFFB"/>
          </a:solidFill>
          <a:ln>
            <a:solidFill>
              <a:srgbClr val="DA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0616" y="2560320"/>
            <a:ext cx="1746504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285B43"/>
                </a:solidFill>
                <a:latin typeface="Aptos"/>
              </a:rPr>
              <a:t>PostgreSQL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91472" y="2999232"/>
            <a:ext cx="176479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69776C"/>
                </a:solidFill>
                <a:latin typeface="Aptos"/>
              </a:rPr>
              <a:t>Trips + itinerary items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80" y="2706624"/>
            <a:ext cx="5486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300" b="1" i="0">
                <a:solidFill>
                  <a:srgbClr val="BB8750"/>
                </a:solidFill>
                <a:latin typeface="Aptos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53912" y="2706624"/>
            <a:ext cx="5486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300" b="1" i="0">
                <a:solidFill>
                  <a:srgbClr val="BB8750"/>
                </a:solidFill>
                <a:latin typeface="Aptos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2706624"/>
            <a:ext cx="5486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300" b="1" i="0">
                <a:solidFill>
                  <a:srgbClr val="BB8750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920240" y="4251960"/>
            <a:ext cx="8366760" cy="749808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solidFill>
              <a:srgbClr val="E5E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0" y="4443984"/>
            <a:ext cx="80010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1B3025"/>
                </a:solidFill>
                <a:latin typeface="Aptos"/>
              </a:rPr>
              <a:t>Render Web Service  ·  npm run build  →  npm start  ·  /api/health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413248"/>
            <a:ext cx="104241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69776C"/>
                </a:solidFill>
                <a:latin typeface="Aptos"/>
              </a:rPr>
              <a:t>Secrets stay in Render environment settings: DATABASE_URL and GEOAPIFY_API_KEY. No Vercel or client API key.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9669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BB8750"/>
                </a:solidFill>
                <a:latin typeface="Aptos"/>
              </a:rPr>
              <a:t>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900" b="1" i="0">
                <a:solidFill>
                  <a:srgbClr val="1B3025"/>
                </a:solidFill>
                <a:latin typeface="Aptos Display"/>
              </a:rPr>
              <a:t>Search outside; persist the user's shortlist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389888"/>
            <a:ext cx="104241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69776C"/>
                </a:solidFill>
                <a:latin typeface="Aptos"/>
              </a:rPr>
              <a:t>Provider credentials stay server-side; itinerary writes are parameterized SQL.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9776C"/>
                </a:solidFill>
                <a:latin typeface="Aptos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" y="6345936"/>
            <a:ext cx="438912" cy="32004"/>
          </a:xfrm>
          <a:prstGeom prst="rect">
            <a:avLst/>
          </a:prstGeom>
          <a:solidFill>
            <a:srgbClr val="BB8750"/>
          </a:solidFill>
          <a:ln>
            <a:solidFill>
              <a:srgbClr val="BB8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7008" y="6254496"/>
            <a:ext cx="43891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1" i="0">
                <a:solidFill>
                  <a:srgbClr val="69776C"/>
                </a:solidFill>
                <a:latin typeface="Aptos"/>
              </a:rPr>
              <a:t>TRIPWISE  /  SMART TRAVEL PLANNER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39112"/>
            <a:ext cx="73152" cy="530352"/>
          </a:xfrm>
          <a:prstGeom prst="roundRect">
            <a:avLst>
              <a:gd name="adj" fmla="val 8000"/>
            </a:avLst>
          </a:prstGeom>
          <a:solidFill>
            <a:srgbClr val="285B43"/>
          </a:solidFill>
          <a:ln>
            <a:solidFill>
              <a:srgbClr val="285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1993392"/>
            <a:ext cx="482803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B3025"/>
                </a:solidFill>
                <a:latin typeface="Aptos"/>
              </a:rPr>
              <a:t>1. Resolve the city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276856"/>
            <a:ext cx="4828032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69776C"/>
                </a:solidFill>
                <a:latin typeface="Aptos"/>
              </a:rPr>
              <a:t>Server calls Geoapify geocoding and uses the returned coordinates.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044951"/>
            <a:ext cx="73152" cy="530352"/>
          </a:xfrm>
          <a:prstGeom prst="roundRect">
            <a:avLst>
              <a:gd name="adj" fmla="val 8000"/>
            </a:avLst>
          </a:prstGeom>
          <a:solidFill>
            <a:srgbClr val="BB8750"/>
          </a:solidFill>
          <a:ln>
            <a:solidFill>
              <a:srgbClr val="BB8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2999232"/>
            <a:ext cx="482803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B3025"/>
                </a:solidFill>
                <a:latin typeface="Aptos"/>
              </a:rPr>
              <a:t>2. Fetch nearby places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3282696"/>
            <a:ext cx="4828032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69776C"/>
                </a:solidFill>
                <a:latin typeface="Aptos"/>
              </a:rPr>
              <a:t>Category, radius, result limit, and requested ordering shape results.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050791"/>
            <a:ext cx="73152" cy="530352"/>
          </a:xfrm>
          <a:prstGeom prst="roundRect">
            <a:avLst>
              <a:gd name="adj" fmla="val 8000"/>
            </a:avLst>
          </a:prstGeom>
          <a:solidFill>
            <a:srgbClr val="285B43"/>
          </a:solidFill>
          <a:ln>
            <a:solidFill>
              <a:srgbClr val="285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" y="4005072"/>
            <a:ext cx="482803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B3025"/>
                </a:solidFill>
                <a:latin typeface="Aptos"/>
              </a:rPr>
              <a:t>3. Save or remove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4288536"/>
            <a:ext cx="4828032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69776C"/>
                </a:solidFill>
                <a:latin typeface="Aptos"/>
              </a:rPr>
              <a:t>Express validates inputs; PostgreSQL enforces one saved place per trip/place ID.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65392" y="1847088"/>
            <a:ext cx="4389120" cy="3584448"/>
          </a:xfrm>
          <a:prstGeom prst="roundRect">
            <a:avLst>
              <a:gd name="adj" fmla="val 8000"/>
            </a:avLst>
          </a:prstGeom>
          <a:solidFill>
            <a:srgbClr val="FFFFFB"/>
          </a:solidFill>
          <a:ln>
            <a:solidFill>
              <a:srgbClr val="DA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05-remove-confirm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544" y="1920240"/>
            <a:ext cx="4242816" cy="343814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565392" y="5513831"/>
            <a:ext cx="43891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69776C"/>
                </a:solidFill>
                <a:latin typeface="Aptos"/>
              </a:rPr>
              <a:t>REMOVE CONFIRMATION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5413248"/>
            <a:ext cx="507492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85B43"/>
                </a:solidFill>
                <a:latin typeface="Aptos"/>
              </a:rPr>
              <a:t>Health check reports DB state, uptime, and application version.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9669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BB8750"/>
                </a:solidFill>
                <a:latin typeface="Aptos"/>
              </a:rPr>
              <a:t>VERIFIED LOCALLY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900" b="1" i="0">
                <a:solidFill>
                  <a:srgbClr val="1B3025"/>
                </a:solidFill>
                <a:latin typeface="Aptos Display"/>
              </a:rPr>
              <a:t>Release checks that were actually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389888"/>
            <a:ext cx="104241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69776C"/>
                </a:solidFill>
                <a:latin typeface="Aptos"/>
              </a:rPr>
              <a:t>Production-style server served the built frontend and API from the same origin.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9776C"/>
                </a:solidFill>
                <a:latin typeface="Aptos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" y="6345936"/>
            <a:ext cx="438912" cy="32004"/>
          </a:xfrm>
          <a:prstGeom prst="rect">
            <a:avLst/>
          </a:prstGeom>
          <a:solidFill>
            <a:srgbClr val="BB8750"/>
          </a:solidFill>
          <a:ln>
            <a:solidFill>
              <a:srgbClr val="BB8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7008" y="6254496"/>
            <a:ext cx="43891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1" i="0">
                <a:solidFill>
                  <a:srgbClr val="69776C"/>
                </a:solidFill>
                <a:latin typeface="Aptos"/>
              </a:rPr>
              <a:t>TRIPWISE  /  SMART TRAVEL PLANNER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901952"/>
            <a:ext cx="283464" cy="283464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solidFill>
              <a:srgbClr val="E5E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15668"/>
            <a:ext cx="228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285B43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883664"/>
            <a:ext cx="1417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B3025"/>
                </a:solidFill>
                <a:latin typeface="Aptos"/>
              </a:rPr>
              <a:t>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52928" y="1883664"/>
            <a:ext cx="80467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69776C"/>
                </a:solidFill>
                <a:latin typeface="Aptos"/>
              </a:rPr>
              <a:t>Root Render build completed successfully.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615184"/>
            <a:ext cx="283464" cy="283464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solidFill>
              <a:srgbClr val="E5E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2628900"/>
            <a:ext cx="228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285B43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2596896"/>
            <a:ext cx="1417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B3025"/>
                </a:solidFill>
                <a:latin typeface="Aptos"/>
              </a:rPr>
              <a:t>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52928" y="2596896"/>
            <a:ext cx="80467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69776C"/>
                </a:solidFill>
                <a:latin typeface="Aptos"/>
              </a:rPr>
              <a:t>Live Geoapify search returned 30 places for tested cities/categories.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328416"/>
            <a:ext cx="283464" cy="283464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solidFill>
              <a:srgbClr val="E5E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3342132"/>
            <a:ext cx="228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285B43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9888" y="3310128"/>
            <a:ext cx="1417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B3025"/>
                </a:solidFill>
                <a:latin typeface="Aptos"/>
              </a:rPr>
              <a:t>Persistence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52928" y="3310128"/>
            <a:ext cx="80467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69776C"/>
                </a:solidFill>
                <a:latin typeface="Aptos"/>
              </a:rPr>
              <a:t>Add, read-back, reload, remove, and reload were verified in PostgreSQL.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041648"/>
            <a:ext cx="283464" cy="283464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solidFill>
              <a:srgbClr val="E5E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4055364"/>
            <a:ext cx="228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285B43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023360"/>
            <a:ext cx="1417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B3025"/>
                </a:solidFill>
                <a:latin typeface="Aptos"/>
              </a:rPr>
              <a:t>Runtime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52928" y="4023360"/>
            <a:ext cx="80467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69776C"/>
                </a:solidFill>
                <a:latin typeface="Aptos"/>
              </a:rPr>
              <a:t>Health returned connected DB + version; static assets and favicon returned 200.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4754879"/>
            <a:ext cx="283464" cy="283464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solidFill>
              <a:srgbClr val="E5E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4768596"/>
            <a:ext cx="228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285B43"/>
                </a:solidFill>
                <a:latin typeface="Aptos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89888" y="4736592"/>
            <a:ext cx="1417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B3025"/>
                </a:solidFill>
                <a:latin typeface="Aptos"/>
              </a:rPr>
              <a:t>UX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52928" y="4736592"/>
            <a:ext cx="80467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69776C"/>
                </a:solidFill>
                <a:latin typeface="Aptos"/>
              </a:rPr>
              <a:t>Theme persistence, category/sort, confirmation, and 390px no-overflow checks passed.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" y="5623560"/>
            <a:ext cx="10332720" cy="411480"/>
          </a:xfrm>
          <a:prstGeom prst="roundRect">
            <a:avLst>
              <a:gd name="adj" fmla="val 8000"/>
            </a:avLst>
          </a:prstGeom>
          <a:solidFill>
            <a:srgbClr val="F4EBDA"/>
          </a:solidFill>
          <a:ln>
            <a:solidFill>
              <a:srgbClr val="F4EB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4128" y="5715000"/>
            <a:ext cx="99669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B3025"/>
                </a:solidFill>
                <a:latin typeface="Aptos"/>
              </a:rPr>
              <a:t>Scope note: no automated test suite is currently included; manual integration checks used live services.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0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8096" y="658368"/>
            <a:ext cx="42062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E2C28F"/>
                </a:solidFill>
                <a:latin typeface="Aptos"/>
              </a:rPr>
              <a:t>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78992"/>
            <a:ext cx="1078992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FFFFB"/>
                </a:solidFill>
                <a:latin typeface="Aptos Display"/>
              </a:rPr>
              <a:t>Ready for Render. Not yet publicly deployed.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084831"/>
            <a:ext cx="658368" cy="45720"/>
          </a:xfrm>
          <a:prstGeom prst="rect">
            <a:avLst/>
          </a:prstGeom>
          <a:solidFill>
            <a:srgbClr val="BB8750"/>
          </a:solidFill>
          <a:ln>
            <a:solidFill>
              <a:srgbClr val="BB8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2606040"/>
            <a:ext cx="594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E2C28F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063240"/>
            <a:ext cx="30632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FFFFFB"/>
                </a:solidFill>
                <a:latin typeface="Aptos"/>
              </a:rPr>
              <a:t>Push to 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547872"/>
            <a:ext cx="29718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C3CFC3"/>
                </a:solidFill>
                <a:latin typeface="Aptos"/>
              </a:rPr>
              <a:t>Use the TripWise repository root only.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15968" y="2606040"/>
            <a:ext cx="594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E2C28F"/>
                </a:solidFill>
                <a:latin typeface="Apto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15968" y="3063240"/>
            <a:ext cx="30632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FFFFFB"/>
                </a:solidFill>
                <a:latin typeface="Aptos"/>
              </a:rPr>
              <a:t>Create Render 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5968" y="3547872"/>
            <a:ext cx="29718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C3CFC3"/>
                </a:solidFill>
                <a:latin typeface="Aptos"/>
              </a:rPr>
              <a:t>Use render.yaml Blueprint or manual Web Service.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27264" y="2606040"/>
            <a:ext cx="594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E2C28F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27264" y="3063240"/>
            <a:ext cx="30632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FFFFFB"/>
                </a:solidFill>
                <a:latin typeface="Aptos"/>
              </a:rPr>
              <a:t>Set secrets + deploy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7264" y="3547872"/>
            <a:ext cx="29718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C3CFC3"/>
                </a:solidFill>
                <a:latin typeface="Aptos"/>
              </a:rPr>
              <a:t>DATABASE_URL, GEOAPIFY_API_KEY; Render sets PORT.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074920"/>
            <a:ext cx="101498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FFFFFB"/>
                </a:solidFill>
                <a:latin typeface="Aptos Display"/>
              </a:rPr>
              <a:t>Thank 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5687568"/>
            <a:ext cx="996696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E2C28F"/>
                </a:solidFill>
                <a:latin typeface="Aptos"/>
              </a:rPr>
              <a:t>TripWise  ·  Discover places. Keep the ones that matter.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446520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C3CFC3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TripWise — Smart Travel Planner</dc:title>
  <dc:subject>Full-stack travel planner and Render deployment plan</dc:subject>
  <dc:creator>TripWise project team</dc:creator>
  <cp:keywords>TripWise, React, Express, PostgreSQL, Geoapify, Render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